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1" r:id="rId20"/>
    <p:sldId id="267" r:id="rId16"/>
    <p:sldId id="272" r:id="rId21"/>
    <p:sldId id="268" r:id="rId17"/>
    <p:sldId id="269" r:id="rId18"/>
    <p:sldId id="270" r:id="rId19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2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BELGIUM · RESIDENTIAL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77240" y="1554480"/>
            <a:ext cx="106070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to Invest in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Belgian Real Estate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370332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CBD5D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BD5DC"/>
                </a:solidFill>
                <a:latin typeface="Calibri"/>
                <a:ea typeface="Calibri"/>
                <a:cs typeface="Calibri"/>
                <a:sym typeface="Calibri"/>
              </a:rPr>
              <a:t>A data-driven recommendation built on 12,600+ market listings — what drives value, and where the opportunity sits.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50749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12,600+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565099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DC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DC6"/>
                </a:solidFill>
                <a:latin typeface="Calibri"/>
                <a:ea typeface="Calibri"/>
                <a:cs typeface="Calibri"/>
                <a:sym typeface="Calibri"/>
              </a:rPr>
              <a:t>listings analysed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4069080" y="5120640"/>
            <a:ext cx="0" cy="868680"/>
          </a:xfrm>
          <a:prstGeom prst="straightConnector1">
            <a:avLst/>
          </a:prstGeom>
          <a:noFill/>
          <a:ln cap="flat" cmpd="sng" w="12700">
            <a:solidFill>
              <a:srgbClr val="2E47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4480560" y="50749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3 regions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480560" y="565099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DC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DC6"/>
                </a:solidFill>
                <a:latin typeface="Calibri"/>
                <a:ea typeface="Calibri"/>
                <a:cs typeface="Calibri"/>
                <a:sym typeface="Calibri"/>
              </a:rPr>
              <a:t>Flanders · Wallonia · Brussels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7726680" y="5120640"/>
            <a:ext cx="0" cy="868680"/>
          </a:xfrm>
          <a:prstGeom prst="straightConnector1">
            <a:avLst/>
          </a:prstGeom>
          <a:noFill/>
          <a:ln cap="flat" cmpd="sng" w="12700">
            <a:solidFill>
              <a:srgbClr val="2E47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8138160" y="50749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&gt;2×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138160" y="565099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DC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DC6"/>
                </a:solidFill>
                <a:latin typeface="Calibri"/>
                <a:ea typeface="Calibri"/>
                <a:cs typeface="Calibri"/>
                <a:sym typeface="Calibri"/>
              </a:rPr>
              <a:t>prestige-location premium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09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E909B"/>
                </a:solidFill>
                <a:latin typeface="Calibri"/>
                <a:ea typeface="Calibri"/>
                <a:cs typeface="Calibri"/>
                <a:sym typeface="Calibri"/>
              </a:rPr>
              <a:t>PREPARED FOR INVESTOR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77240" y="77724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Size and location set the price — prestige sets it apart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77240" y="1828800"/>
            <a:ext cx="3502152" cy="278892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5A4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97280" y="2148840"/>
            <a:ext cx="713232" cy="713232"/>
          </a:xfrm>
          <a:prstGeom prst="ellipse">
            <a:avLst/>
          </a:prstGeom>
          <a:solidFill>
            <a:srgbClr val="F4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736" y="23682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1069848" y="3035808"/>
            <a:ext cx="2916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Size is the #1 driver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69848" y="3657600"/>
            <a:ext cx="29169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5505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5505A"/>
                </a:solidFill>
                <a:latin typeface="Calibri"/>
                <a:ea typeface="Calibri"/>
                <a:cs typeface="Calibri"/>
                <a:sym typeface="Calibri"/>
              </a:rPr>
              <a:t>Living area, bedrooms and total surface dominate price. Underwrite on usable square metres before anything else.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370832" y="1828800"/>
            <a:ext cx="3502152" cy="278892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5A4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690872" y="2148840"/>
            <a:ext cx="713232" cy="713232"/>
          </a:xfrm>
          <a:prstGeom prst="ellipse">
            <a:avLst/>
          </a:prstGeom>
          <a:solidFill>
            <a:srgbClr val="F4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0328" y="23682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4663440" y="3035808"/>
            <a:ext cx="2916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Location is the multiplier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663440" y="3657600"/>
            <a:ext cx="29169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5505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5505A"/>
                </a:solidFill>
                <a:latin typeface="Calibri"/>
                <a:ea typeface="Calibri"/>
                <a:cs typeface="Calibri"/>
                <a:sym typeface="Calibri"/>
              </a:rPr>
              <a:t>A north/urban gradient runs through the market. Proximity to a prestigious city more than doubles comparable house prices.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964424" y="1828800"/>
            <a:ext cx="3502152" cy="278892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5A4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284464" y="2148840"/>
            <a:ext cx="713232" cy="713232"/>
          </a:xfrm>
          <a:prstGeom prst="ellipse">
            <a:avLst/>
          </a:prstGeom>
          <a:solidFill>
            <a:srgbClr val="F4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0" y="23682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8257032" y="3035808"/>
            <a:ext cx="2916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Energy class is the tie-breaker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257032" y="3657600"/>
            <a:ext cx="29169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5505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5505A"/>
                </a:solidFill>
                <a:latin typeface="Calibri"/>
                <a:ea typeface="Calibri"/>
                <a:cs typeface="Calibri"/>
                <a:sym typeface="Calibri"/>
              </a:rPr>
              <a:t>EPC rating ranks just behind size and location — A-rated stock commands a premium and de-risks future regulation.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77240" y="4892040"/>
            <a:ext cx="10652760" cy="1371600"/>
          </a:xfrm>
          <a:prstGeom prst="roundRect">
            <a:avLst>
              <a:gd fmla="val 5333" name="adj"/>
            </a:avLst>
          </a:prstGeom>
          <a:solidFill>
            <a:srgbClr val="163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5285232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1965960" y="5138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OUR RECOMMENDATION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965960" y="5413248"/>
            <a:ext cx="9144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E8EEF1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8EEF1"/>
                </a:solidFill>
                <a:latin typeface="Calibri"/>
                <a:ea typeface="Calibri"/>
                <a:cs typeface="Calibri"/>
                <a:sym typeface="Calibri"/>
              </a:rPr>
              <a:t>Target well-sized, energy-efficient homes on the rising edge of prestigious city catchments — and buy smaller units near cities for the strongest price per m².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HOW WE BUILT THE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77240" y="7772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A clean, defensible dataset — not a scrape dump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77240" y="1783080"/>
            <a:ext cx="2615184" cy="3383280"/>
          </a:xfrm>
          <a:prstGeom prst="roundRect">
            <a:avLst>
              <a:gd fmla="val 2797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033272" y="2057400"/>
            <a:ext cx="640080" cy="640080"/>
          </a:xfrm>
          <a:prstGeom prst="ellipse">
            <a:avLst/>
          </a:prstGeom>
          <a:solidFill>
            <a:srgbClr val="2E52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5296" y="22494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1801368" y="2103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B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DCC9B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033272" y="2852928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51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Raw market data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033272" y="3611880"/>
            <a:ext cx="2103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12,600+ Belgian for-sale listings across houses and apartments, scraped nationwide with price, surface, location, energy and amenities.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511296" y="1783080"/>
            <a:ext cx="2615184" cy="3383280"/>
          </a:xfrm>
          <a:prstGeom prst="roundRect">
            <a:avLst>
              <a:gd fmla="val 2797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767328" y="2057400"/>
            <a:ext cx="640080" cy="640080"/>
          </a:xfrm>
          <a:prstGeom prst="ellipse">
            <a:avLst/>
          </a:prstGeom>
          <a:solidFill>
            <a:srgbClr val="2E52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9352" y="22494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4535424" y="2103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B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DCC9B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767328" y="2852928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51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Non-destructive cleaning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767328" y="3611880"/>
            <a:ext cx="2103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An 8-step pipeline standardises categories and fixes only indisputable errors (e.g. GPS swaps confirmed by postal code).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245352" y="1783080"/>
            <a:ext cx="2615184" cy="3383280"/>
          </a:xfrm>
          <a:prstGeom prst="roundRect">
            <a:avLst>
              <a:gd fmla="val 2797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501384" y="2057400"/>
            <a:ext cx="640080" cy="640080"/>
          </a:xfrm>
          <a:prstGeom prst="ellipse">
            <a:avLst/>
          </a:prstGeom>
          <a:solidFill>
            <a:srgbClr val="2E52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3408" y="22494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7269480" y="2103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B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DCC9B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501384" y="2852928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51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Flag, don't delete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501384" y="3611880"/>
            <a:ext cx="2103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Implausible prices, areas and years are flagged for review rather than silently removed — nothing is quietly massaged.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979408" y="1783080"/>
            <a:ext cx="2615184" cy="3383280"/>
          </a:xfrm>
          <a:prstGeom prst="roundRect">
            <a:avLst>
              <a:gd fmla="val 2797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235440" y="2057400"/>
            <a:ext cx="640080" cy="640080"/>
          </a:xfrm>
          <a:prstGeom prst="ellipse">
            <a:avLst/>
          </a:prstGeom>
          <a:solidFill>
            <a:srgbClr val="2E52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7464" y="22494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10003536" y="2103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C9B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DCC9B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235440" y="2852928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51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Analysis-ready features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235440" y="3611880"/>
            <a:ext cx="2103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Ordered EPC/condition scales, boolean amenities and a derived price-per-m² enable like-for-like comparison.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77240" y="553212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23F"/>
                </a:solidFill>
                <a:latin typeface="Calibri"/>
                <a:ea typeface="Calibri"/>
                <a:cs typeface="Calibri"/>
                <a:sym typeface="Calibri"/>
              </a:rPr>
              <a:t>Why it matters for you:  </a:t>
            </a:r>
            <a:r>
              <a:rPr b="0" i="0" lang="en-US" sz="14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every number in this deck is traceable to a clean, auditable record — diligence starts on solid ground.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THE MARKET AT A GLANCE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77240" y="7315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Two-thirds houses, prices skew right, energy is middling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77240" y="1600200"/>
            <a:ext cx="7818120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E4DCD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5A4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dan_cell11_0.png"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" y="1942270"/>
            <a:ext cx="7562088" cy="411645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8915400" y="1746504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9125712" y="161848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Flanders leads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125712" y="1929384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Highest median prices by region; Wallonia and Brussels sit below.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8915400" y="2935224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9125712" y="280720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Houses dominate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9125712" y="3118104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~8,200 houses vs ~4,400 apartments — a house-led market.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915400" y="4123944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9125712" y="39959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Energy is average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9125712" y="4306824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Most stock clusters at C–D; A-rated homes are scarce and prized.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915400" y="5312664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9125712" y="51846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Right-skewed prices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9125712" y="5495544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A long tail of premium assets pulls the average above the median.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WHAT ACTUALLY MOVES PRICE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77240" y="7315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Size, then location, then energy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77240" y="1554480"/>
            <a:ext cx="6126480" cy="4892040"/>
          </a:xfrm>
          <a:prstGeom prst="roundRect">
            <a:avLst>
              <a:gd fmla="val 1121" name="adj"/>
            </a:avLst>
          </a:prstGeom>
          <a:solidFill>
            <a:srgbClr val="FFFFFF"/>
          </a:solidFill>
          <a:ln cap="flat" cmpd="sng" w="12700">
            <a:solidFill>
              <a:srgbClr val="E4DCD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5A4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dan_cell19_3.png"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041" y="1682496"/>
            <a:ext cx="5684879" cy="463600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7086600" y="160020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E788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E7884"/>
                </a:solidFill>
                <a:latin typeface="Calibri"/>
                <a:ea typeface="Calibri"/>
                <a:cs typeface="Calibri"/>
                <a:sym typeface="Calibri"/>
              </a:rPr>
              <a:t>A Random-Forest model ranks every variable by its contribution to price.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086600" y="2286000"/>
            <a:ext cx="548640" cy="548640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3138" y="247253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7772400" y="22402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Size dominates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772400" y="2587752"/>
            <a:ext cx="3794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Living area, bedrooms, bathrooms and total surface take the top spots — usable space is the price engine.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086600" y="3584448"/>
            <a:ext cx="548640" cy="548640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3138" y="3770986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7772400" y="353872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Location is decisive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772400" y="3886200"/>
            <a:ext cx="3794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Latitude (the north/south, urban/rural gradient) is the strongest non-size factor.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7086600" y="4882896"/>
            <a:ext cx="548640" cy="548640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73138" y="506943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7772400" y="483717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Energy ranks high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772400" y="5184648"/>
            <a:ext cx="3794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EPC score sits just behind — a real, monetisable lever as regulation tightens.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THE CORRELATION CROSS-CHECK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77240" y="7315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A simpler lens, the same verdict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772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8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E7884"/>
                </a:solidFill>
                <a:latin typeface="Calibri"/>
                <a:ea typeface="Calibri"/>
                <a:cs typeface="Calibri"/>
                <a:sym typeface="Calibri"/>
              </a:rPr>
              <a:t>Plain correlation with price confirms the model — and exposes what doesn't move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777240" y="1828800"/>
            <a:ext cx="5074920" cy="370332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2700">
            <a:solidFill>
              <a:srgbClr val="E4DCD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5A4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neha_cell9_0.png"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141" y="1956816"/>
            <a:ext cx="4569117" cy="3447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6172200" y="18288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Functional space drives price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172200" y="2212848"/>
            <a:ext cx="1700784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281928" y="2249424"/>
            <a:ext cx="6766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0.60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885432" y="2249424"/>
            <a:ext cx="9235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Living area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964424" y="2212848"/>
            <a:ext cx="1700784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8074152" y="2249424"/>
            <a:ext cx="6766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0.54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8677656" y="2249424"/>
            <a:ext cx="9235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Bedrooms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9756648" y="2212848"/>
            <a:ext cx="1700784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9866376" y="2249424"/>
            <a:ext cx="6766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0.52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469880" y="2249424"/>
            <a:ext cx="9235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Bathrooms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172200" y="304495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Structure adds a little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172200" y="3429000"/>
            <a:ext cx="1700784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281928" y="3465576"/>
            <a:ext cx="6766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2E5266"/>
                </a:solidFill>
                <a:latin typeface="Cambria"/>
                <a:ea typeface="Cambria"/>
                <a:cs typeface="Cambria"/>
                <a:sym typeface="Cambria"/>
              </a:rPr>
              <a:t>0.25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885432" y="3465576"/>
            <a:ext cx="9235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Facades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172200" y="426110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Cosmetic features barely register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172200" y="4645152"/>
            <a:ext cx="1700784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281928" y="4681728"/>
            <a:ext cx="6766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C7A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9A8C7A"/>
                </a:solidFill>
                <a:latin typeface="Cambria"/>
                <a:ea typeface="Cambria"/>
                <a:cs typeface="Cambria"/>
                <a:sym typeface="Cambria"/>
              </a:rPr>
              <a:t>0.18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885432" y="4681728"/>
            <a:ext cx="9235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Garden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7964424" y="4645152"/>
            <a:ext cx="1700784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8074152" y="4681728"/>
            <a:ext cx="6766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C7A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9A8C7A"/>
                </a:solidFill>
                <a:latin typeface="Cambria"/>
                <a:ea typeface="Cambria"/>
                <a:cs typeface="Cambria"/>
                <a:sym typeface="Cambria"/>
              </a:rPr>
              <a:t>0.15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677656" y="4681728"/>
            <a:ext cx="9235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Prestige flag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9756648" y="4645152"/>
            <a:ext cx="1700784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9866376" y="4681728"/>
            <a:ext cx="6766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C7A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9A8C7A"/>
                </a:solidFill>
                <a:latin typeface="Cambria"/>
                <a:ea typeface="Cambria"/>
                <a:cs typeface="Cambria"/>
                <a:sym typeface="Cambria"/>
              </a:rPr>
              <a:t>0.11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0469880" y="4681728"/>
            <a:ext cx="9235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Terrace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172200" y="5440680"/>
            <a:ext cx="5285232" cy="960120"/>
          </a:xfrm>
          <a:prstGeom prst="roundRect">
            <a:avLst>
              <a:gd fmla="val 7619" name="adj"/>
            </a:avLst>
          </a:prstGeom>
          <a:solidFill>
            <a:srgbClr val="163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57332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967728" y="5559552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For the investor:  </a:t>
            </a:r>
            <a:r>
              <a:rPr b="0" i="0" lang="en-US" sz="1200" u="none" cap="none" strike="noStrike">
                <a:solidFill>
                  <a:srgbClr val="DCE5EA"/>
                </a:solidFill>
                <a:latin typeface="Calibri"/>
                <a:ea typeface="Calibri"/>
                <a:cs typeface="Calibri"/>
                <a:sym typeface="Calibri"/>
              </a:rPr>
              <a:t>underwrite on m² and rooms, not gardens or terraces. (Garage dropped — too many missing values to trust.)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THE GEOGRAPHY OF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77240" y="7315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Price per m² is concentrated, not uniform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400800" y="1554480"/>
            <a:ext cx="5029200" cy="4846320"/>
          </a:xfrm>
          <a:prstGeom prst="roundRect">
            <a:avLst>
              <a:gd fmla="val 1132" name="adj"/>
            </a:avLst>
          </a:prstGeom>
          <a:solidFill>
            <a:srgbClr val="FFFFFF"/>
          </a:solidFill>
          <a:ln cap="flat" cmpd="sng" w="12700">
            <a:solidFill>
              <a:srgbClr val="E4DCD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5A4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dan_cell12_1.png"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1002" y="1682496"/>
            <a:ext cx="4428796" cy="459028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822960" y="1874520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051560" y="17373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Hotspots cluster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051560" y="2121408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The brightest €/m² values concentrate around the coast and major urban cores, not evenly across the map.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22960" y="3291840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1051560" y="31546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A north–south gradient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051560" y="3538728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Northern and central belts carry higher per-m² values; large rural stretches trade at a discount.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22960" y="4709160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1051560" y="45720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Micro-markets matter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051560" y="4956048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Value is local. National averages hide pockets where €/m² is double the surrounding area.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23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THE PRESTIGE PREMIUM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777240" y="7315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Proximity to a prestigious city </a:t>
            </a: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more than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doubles price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77724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DC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EBDC6"/>
                </a:solidFill>
                <a:latin typeface="Calibri"/>
                <a:ea typeface="Calibri"/>
                <a:cs typeface="Calibri"/>
                <a:sym typeface="Calibri"/>
              </a:rPr>
              <a:t>Comparable houses only — 2–5 bedrooms, 100–500 m², within 5 km from the nearest city — so the gap reflects location, not size.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777250" y="1965950"/>
            <a:ext cx="7226100" cy="4343400"/>
          </a:xfrm>
          <a:prstGeom prst="roundRect">
            <a:avLst>
              <a:gd fmla="val 14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8284805" y="2171565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r>
              <a:rPr b="1" lang="en-US" sz="3800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110</a:t>
            </a:r>
            <a:r>
              <a:rPr b="1" i="0" lang="en-US" sz="3800" u="none" cap="none" strike="noStrike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8284812" y="2829933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C3D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higher mean price near a prestigious 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8284868" y="3543228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€8</a:t>
            </a: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43</a:t>
            </a: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284800" y="4144983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C3D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vs €4</a:t>
            </a:r>
            <a:r>
              <a:rPr lang="en-US" sz="1300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b="0" i="0" lang="en-US" sz="130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k — like-for-like houses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8284868" y="4896665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€3,</a:t>
            </a: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612</a:t>
            </a: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/m²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8312300" y="5555033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C3D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near prestige vs €2,</a:t>
            </a:r>
            <a:r>
              <a:rPr lang="en-US" sz="1300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070 </a:t>
            </a:r>
            <a:r>
              <a:rPr b="0" i="0" lang="en-US" sz="130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elsewhere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792315" y="6353300"/>
            <a:ext cx="1060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09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E909B"/>
                </a:solidFill>
                <a:latin typeface="Calibri"/>
                <a:ea typeface="Calibri"/>
                <a:cs typeface="Calibri"/>
                <a:sym typeface="Calibri"/>
              </a:rPr>
              <a:t>Note: prestigious sample is small (n≈199) — directionally strong, worth validating per target area.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0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938" y="2402375"/>
            <a:ext cx="7166725" cy="3181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DISTANCE &amp; DENSITY DYNAMICS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777240" y="7315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The yield play: small units, close to cities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777240" y="1554480"/>
            <a:ext cx="10652760" cy="2788920"/>
          </a:xfrm>
          <a:prstGeom prst="roundRect">
            <a:avLst>
              <a:gd fmla="val 1967" name="adj"/>
            </a:avLst>
          </a:prstGeom>
          <a:solidFill>
            <a:srgbClr val="FFFFFF"/>
          </a:solidFill>
          <a:ln cap="flat" cmpd="sng" w="12700">
            <a:solidFill>
              <a:srgbClr val="E4DCD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5A4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victor_cell7_2.png" id="209" name="Google Shape;2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1314" y="1719072"/>
            <a:ext cx="6624611" cy="245973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/>
          <p:nvPr/>
        </p:nvSpPr>
        <p:spPr>
          <a:xfrm>
            <a:off x="777240" y="4617720"/>
            <a:ext cx="3502152" cy="1783080"/>
          </a:xfrm>
          <a:prstGeom prst="roundRect">
            <a:avLst>
              <a:gd fmla="val 4103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1051560" y="4864608"/>
            <a:ext cx="502920" cy="502920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2553" y="5035601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1691640" y="4882896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€/m² falls with distance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051560" y="5440680"/>
            <a:ext cx="29535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Price per m² declines steadily as you move away from a city (correlation ≈ −0.26). The premium is paid for access.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370832" y="4617720"/>
            <a:ext cx="3502152" cy="1783080"/>
          </a:xfrm>
          <a:prstGeom prst="roundRect">
            <a:avLst>
              <a:gd fmla="val 4103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4645152" y="4864608"/>
            <a:ext cx="502920" cy="502920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6145" y="5035601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/>
          <p:nvPr/>
        </p:nvSpPr>
        <p:spPr>
          <a:xfrm>
            <a:off x="5285232" y="4882896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Smaller = pricier per m²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645152" y="5440680"/>
            <a:ext cx="29535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Studios and small apartments fetch the highest €/m²; large homes spread fixed value over more surface.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964424" y="4617720"/>
            <a:ext cx="3502152" cy="1783080"/>
          </a:xfrm>
          <a:prstGeom prst="roundRect">
            <a:avLst>
              <a:gd fmla="val 4103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8238744" y="4864608"/>
            <a:ext cx="502920" cy="502920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9737" y="5035601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/>
          <p:nvPr/>
        </p:nvSpPr>
        <p:spPr>
          <a:xfrm>
            <a:off x="8878824" y="4882896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Where the yield sits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238744" y="5440680"/>
            <a:ext cx="29535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Compact, well-located units combine the strongest €/m² with the deepest tenant demand — a rental-yield sweet spot.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3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WHERE VALUE SITS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777240" y="7315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Premium cores vs. value provinces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86868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MOST EXPENSIVE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777240" y="2011680"/>
            <a:ext cx="260604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5A4A3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1051560" y="2212848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26A4A"/>
                </a:solidFill>
                <a:latin typeface="Cambria"/>
                <a:ea typeface="Cambria"/>
                <a:cs typeface="Cambria"/>
                <a:sym typeface="Cambria"/>
              </a:rPr>
              <a:t>€4,509/m²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1051560" y="292608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Brussels — priciest per m² for compact homes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3456432" y="2011680"/>
            <a:ext cx="260604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5A4A3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3730752" y="2212848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54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A4543A"/>
                </a:solidFill>
                <a:latin typeface="Cambria"/>
                <a:ea typeface="Cambria"/>
                <a:cs typeface="Cambria"/>
                <a:sym typeface="Cambria"/>
              </a:rPr>
              <a:t>€3,942/m²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3730752" y="292608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Average near a prestigious 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868680" y="3977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BEST VALUE ENTRY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777240" y="4297680"/>
            <a:ext cx="260604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5A4A3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1051560" y="4498848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E5266"/>
                </a:solidFill>
                <a:latin typeface="Cambria"/>
                <a:ea typeface="Cambria"/>
                <a:cs typeface="Cambria"/>
                <a:sym typeface="Cambria"/>
              </a:rPr>
              <a:t>Hainaut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1051560" y="521208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Cheapest for small–mid homes (0–200 m²)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3456432" y="4297680"/>
            <a:ext cx="260604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5A4A3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3730752" y="4498848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E5266"/>
                </a:solidFill>
                <a:latin typeface="Cambria"/>
                <a:ea typeface="Cambria"/>
                <a:cs typeface="Cambria"/>
                <a:sym typeface="Cambria"/>
              </a:rPr>
              <a:t>Namur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3730752" y="521208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Cheapest for larger homes (200–500 m²)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400800" y="2011680"/>
            <a:ext cx="5029200" cy="3977640"/>
          </a:xfrm>
          <a:prstGeom prst="roundRect">
            <a:avLst>
              <a:gd fmla="val 1839" name="adj"/>
            </a:avLst>
          </a:prstGeom>
          <a:solidFill>
            <a:srgbClr val="163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23317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2"/>
          <p:cNvSpPr/>
          <p:nvPr/>
        </p:nvSpPr>
        <p:spPr>
          <a:xfrm>
            <a:off x="7424928" y="23774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Reading the spread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784848" y="3081528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7040880" y="2962656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CE5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CE5EA"/>
                </a:solidFill>
                <a:latin typeface="Calibri"/>
                <a:ea typeface="Calibri"/>
                <a:cs typeface="Calibri"/>
                <a:sym typeface="Calibri"/>
              </a:rPr>
              <a:t>Brussels stays the most expensive market at every size bracket — a capital-preservation play, not a yield 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784848" y="4041648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7040880" y="3922776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CE5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CE5EA"/>
                </a:solidFill>
                <a:latin typeface="Calibri"/>
                <a:ea typeface="Calibri"/>
                <a:cs typeface="Calibri"/>
                <a:sym typeface="Calibri"/>
              </a:rPr>
              <a:t>Prestige-adjacent locations carry a durable ~60% €/m² premium over the rest of the country.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6784848" y="5001768"/>
            <a:ext cx="118872" cy="118872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7040880" y="4882896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CE5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CE5EA"/>
                </a:solidFill>
                <a:latin typeface="Calibri"/>
                <a:ea typeface="Calibri"/>
                <a:cs typeface="Calibri"/>
                <a:sym typeface="Calibri"/>
              </a:rPr>
              <a:t>Hainaut and Namur offer the lowest entry prices — the value end for buy-renovate-rent strategies.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FROM REGIONS TO STREETS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777240" y="7772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Zoom in: named winners and a Brussels gradient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777240" y="1783080"/>
            <a:ext cx="5166360" cy="2743200"/>
          </a:xfrm>
          <a:prstGeom prst="roundRect">
            <a:avLst>
              <a:gd fmla="val 2667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5A4A3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1097280" y="201168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MOST EXPENSIVE MUNICIPALITIES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1097280" y="2432304"/>
            <a:ext cx="384048" cy="384048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1097280" y="24323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1645920" y="239572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Kraainem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1645920" y="267919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884"/>
                </a:solidFill>
                <a:latin typeface="Calibri"/>
                <a:ea typeface="Calibri"/>
                <a:cs typeface="Calibri"/>
                <a:sym typeface="Calibri"/>
              </a:rPr>
              <a:t>Prestigious Brussels periphery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1097280" y="3099816"/>
            <a:ext cx="384048" cy="384048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1097280" y="30998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1645920" y="306324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Sterrebeek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645920" y="3346704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884"/>
                </a:solidFill>
                <a:latin typeface="Calibri"/>
                <a:ea typeface="Calibri"/>
                <a:cs typeface="Calibri"/>
                <a:sym typeface="Calibri"/>
              </a:rPr>
              <a:t>Affluent commuter belt, east of Brussels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1097280" y="3767328"/>
            <a:ext cx="384048" cy="384048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1097280" y="3767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645920" y="373075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Knokke-Heist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645920" y="4014216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884"/>
                </a:solidFill>
                <a:latin typeface="Calibri"/>
                <a:ea typeface="Calibri"/>
                <a:cs typeface="Calibri"/>
                <a:sym typeface="Calibri"/>
              </a:rPr>
              <a:t>Premium coastal resort market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263640" y="1783080"/>
            <a:ext cx="5166360" cy="2743200"/>
          </a:xfrm>
          <a:prstGeom prst="roundRect">
            <a:avLst>
              <a:gd fmla="val 2667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5A4A3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6583680" y="201168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MOST AFFORDABLE MUNICIPALITIES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583680" y="2432304"/>
            <a:ext cx="384048" cy="384048"/>
          </a:xfrm>
          <a:prstGeom prst="ellipse">
            <a:avLst/>
          </a:prstGeom>
          <a:solidFill>
            <a:srgbClr val="2E52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6583680" y="24323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7132320" y="239572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Blaimont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7132320" y="267919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884"/>
                </a:solidFill>
                <a:latin typeface="Calibri"/>
                <a:ea typeface="Calibri"/>
                <a:cs typeface="Calibri"/>
                <a:sym typeface="Calibri"/>
              </a:rPr>
              <a:t>Small rural Wallonian village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583680" y="3099816"/>
            <a:ext cx="384048" cy="384048"/>
          </a:xfrm>
          <a:prstGeom prst="ellipse">
            <a:avLst/>
          </a:prstGeom>
          <a:solidFill>
            <a:srgbClr val="2E52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6583680" y="30998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7132320" y="306324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Baileux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7132320" y="3346704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884"/>
                </a:solidFill>
                <a:latin typeface="Calibri"/>
                <a:ea typeface="Calibri"/>
                <a:cs typeface="Calibri"/>
                <a:sym typeface="Calibri"/>
              </a:rPr>
              <a:t>Thin market, very few transactions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6583680" y="3767328"/>
            <a:ext cx="384048" cy="384048"/>
          </a:xfrm>
          <a:prstGeom prst="ellipse">
            <a:avLst/>
          </a:prstGeom>
          <a:solidFill>
            <a:srgbClr val="2E52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583680" y="3767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7132320" y="373075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Rural Wallonia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7132320" y="4014216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884"/>
                </a:solidFill>
                <a:latin typeface="Calibri"/>
                <a:ea typeface="Calibri"/>
                <a:cs typeface="Calibri"/>
                <a:sym typeface="Calibri"/>
              </a:rPr>
              <a:t>Large stretches priced well below the cores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777240" y="4754880"/>
            <a:ext cx="10652760" cy="1508760"/>
          </a:xfrm>
          <a:prstGeom prst="roundRect">
            <a:avLst>
              <a:gd fmla="val 4848" name="adj"/>
            </a:avLst>
          </a:prstGeom>
          <a:solidFill>
            <a:srgbClr val="163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523036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3"/>
          <p:cNvSpPr/>
          <p:nvPr/>
        </p:nvSpPr>
        <p:spPr>
          <a:xfrm>
            <a:off x="1920240" y="5029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THE DISTANCE-TO-BRUSSELS GRADIENT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1920240" y="5321808"/>
            <a:ext cx="9235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E0E8E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0E8EC"/>
                </a:solidFill>
                <a:latin typeface="Calibri"/>
                <a:ea typeface="Calibri"/>
                <a:cs typeface="Calibri"/>
                <a:sym typeface="Calibri"/>
              </a:rPr>
              <a:t>The farther you move from the capital, the cheaper property gets. Value concentrates in the Brussels periphery and along the coast — and even the cheapest Brussels commune outprices most of Wallonia.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3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"/>
          <p:cNvSpPr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READING THE REGIONAL CHARACTER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777240" y="7772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A market in three speeds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777240" y="1783080"/>
            <a:ext cx="3502152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5A4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1069848" y="2057400"/>
            <a:ext cx="603504" cy="603504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5039" y="2262591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/>
          <p:nvPr/>
        </p:nvSpPr>
        <p:spPr>
          <a:xfrm>
            <a:off x="1801368" y="206654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Brussels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1801368" y="2432304"/>
            <a:ext cx="2313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URBAN 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1069848" y="285292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€/m²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1069848" y="306324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Highest — small flats, high demand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1069848" y="340156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1069848" y="361188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Stable &amp; mature, low variation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1069848" y="395020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1069848" y="416052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Low — consistently priced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1069848" y="4572000"/>
            <a:ext cx="2916936" cy="347472"/>
          </a:xfrm>
          <a:prstGeom prst="roundRect">
            <a:avLst>
              <a:gd fmla="val 15789" name="adj"/>
            </a:avLst>
          </a:prstGeom>
          <a:solidFill>
            <a:srgbClr val="F4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1069848" y="4572000"/>
            <a:ext cx="2916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45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4543A"/>
                </a:solidFill>
                <a:latin typeface="Calibri"/>
                <a:ea typeface="Calibri"/>
                <a:cs typeface="Calibri"/>
                <a:sym typeface="Calibri"/>
              </a:rPr>
              <a:t>Capital preservation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4370832" y="1783080"/>
            <a:ext cx="3502152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5A4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4663440" y="2057400"/>
            <a:ext cx="603504" cy="603504"/>
          </a:xfrm>
          <a:prstGeom prst="ellipse">
            <a:avLst/>
          </a:prstGeom>
          <a:solidFill>
            <a:srgbClr val="5E8B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8631" y="2262591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4"/>
          <p:cNvSpPr/>
          <p:nvPr/>
        </p:nvSpPr>
        <p:spPr>
          <a:xfrm>
            <a:off x="5394960" y="206654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Flemish periphery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394960" y="2432304"/>
            <a:ext cx="2313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8B7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E8B7E"/>
                </a:solidFill>
                <a:latin typeface="Calibri"/>
                <a:ea typeface="Calibri"/>
                <a:cs typeface="Calibri"/>
                <a:sym typeface="Calibri"/>
              </a:rPr>
              <a:t>COMMUTER BELT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4663440" y="285292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Total price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663440" y="306324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Highest — strong purchasing power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4663440" y="340156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663440" y="361188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Pulled up by proximity to Brussels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4663440" y="395020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663440" y="416052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Moderate — premium already priced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4663440" y="4572000"/>
            <a:ext cx="2916936" cy="347472"/>
          </a:xfrm>
          <a:prstGeom prst="roundRect">
            <a:avLst>
              <a:gd fmla="val 15789" name="adj"/>
            </a:avLst>
          </a:prstGeom>
          <a:solidFill>
            <a:srgbClr val="F4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4663440" y="4572000"/>
            <a:ext cx="2916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45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4543A"/>
                </a:solidFill>
                <a:latin typeface="Calibri"/>
                <a:ea typeface="Calibri"/>
                <a:cs typeface="Calibri"/>
                <a:sym typeface="Calibri"/>
              </a:rPr>
              <a:t>Growth / appreciation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7964424" y="1783080"/>
            <a:ext cx="3502152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E6DD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5A4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8257032" y="2057400"/>
            <a:ext cx="603504" cy="603504"/>
          </a:xfrm>
          <a:prstGeom prst="ellipse">
            <a:avLst/>
          </a:prstGeom>
          <a:solidFill>
            <a:srgbClr val="B98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2223" y="2262591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4"/>
          <p:cNvSpPr/>
          <p:nvPr/>
        </p:nvSpPr>
        <p:spPr>
          <a:xfrm>
            <a:off x="8988552" y="206654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Wallonia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8988552" y="2432304"/>
            <a:ext cx="2313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A3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98A3E"/>
                </a:solidFill>
                <a:latin typeface="Calibri"/>
                <a:ea typeface="Calibri"/>
                <a:cs typeface="Calibri"/>
                <a:sym typeface="Calibri"/>
              </a:rPr>
              <a:t>RURAL VALUE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8257032" y="285292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8257032" y="306324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Lowest overall, larger plots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8257032" y="340156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8257032" y="361188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Thinner — fewer active buyers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8257032" y="395020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2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266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8257032" y="4160520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Higher — liquidity &amp; demand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8257032" y="4572000"/>
            <a:ext cx="2916936" cy="347472"/>
          </a:xfrm>
          <a:prstGeom prst="roundRect">
            <a:avLst>
              <a:gd fmla="val 15789" name="adj"/>
            </a:avLst>
          </a:prstGeom>
          <a:solidFill>
            <a:srgbClr val="F4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8257032" y="4572000"/>
            <a:ext cx="2916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45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4543A"/>
                </a:solidFill>
                <a:latin typeface="Calibri"/>
                <a:ea typeface="Calibri"/>
                <a:cs typeface="Calibri"/>
                <a:sym typeface="Calibri"/>
              </a:rPr>
              <a:t>Value — with demand risk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777240" y="5257800"/>
            <a:ext cx="10652760" cy="1005840"/>
          </a:xfrm>
          <a:prstGeom prst="roundRect">
            <a:avLst>
              <a:gd fmla="val 7273" name="adj"/>
            </a:avLst>
          </a:prstGeom>
          <a:solidFill>
            <a:srgbClr val="163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1097280" y="539496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Read it right:  </a:t>
            </a:r>
            <a:r>
              <a:rPr b="0" i="0" lang="en-US" sz="1350" u="none" cap="none" strike="noStrike">
                <a:solidFill>
                  <a:srgbClr val="DCE5EA"/>
                </a:solidFill>
                <a:latin typeface="Calibri"/>
                <a:ea typeface="Calibri"/>
                <a:cs typeface="Calibri"/>
                <a:sym typeface="Calibri"/>
              </a:rPr>
              <a:t>median beats average (luxury outliers skew the mean), and price/m² flips the ranking — small Brussels flats outrank large rural villas. 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you buy matters more than what you buy.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32C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"/>
          <p:cNvSpPr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INVESTMENT RECOMMENDATION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777240" y="7772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Three plays the data supports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777240" y="1783080"/>
            <a:ext cx="3502152" cy="4069080"/>
          </a:xfrm>
          <a:prstGeom prst="roundRect">
            <a:avLst>
              <a:gd fmla="val 2350" name="adj"/>
            </a:avLst>
          </a:prstGeom>
          <a:solidFill>
            <a:srgbClr val="153241"/>
          </a:solidFill>
          <a:ln cap="flat" cmpd="sng" w="12700">
            <a:solidFill>
              <a:srgbClr val="264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1069848" y="2103120"/>
            <a:ext cx="658368" cy="658368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3693" y="2326965"/>
            <a:ext cx="210678" cy="21067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5"/>
          <p:cNvSpPr/>
          <p:nvPr/>
        </p:nvSpPr>
        <p:spPr>
          <a:xfrm>
            <a:off x="3319272" y="2103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75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E4754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1069848" y="2971800"/>
            <a:ext cx="2916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Prestige-edge growth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1069848" y="3611880"/>
            <a:ext cx="29169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3D0D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Well-sized family houses on the rising edge of prestigious city catchments.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15"/>
          <p:cNvCxnSpPr/>
          <p:nvPr/>
        </p:nvCxnSpPr>
        <p:spPr>
          <a:xfrm>
            <a:off x="1069848" y="4617720"/>
            <a:ext cx="2916936" cy="0"/>
          </a:xfrm>
          <a:prstGeom prst="straightConnector1">
            <a:avLst/>
          </a:prstGeom>
          <a:noFill/>
          <a:ln cap="flat" cmpd="sng" w="12700">
            <a:solidFill>
              <a:srgbClr val="2A45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15"/>
          <p:cNvSpPr/>
          <p:nvPr/>
        </p:nvSpPr>
        <p:spPr>
          <a:xfrm>
            <a:off x="1069848" y="4709160"/>
            <a:ext cx="29169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Why: </a:t>
            </a:r>
            <a:r>
              <a:rPr b="0" i="0" lang="en-US" sz="1250" u="none" cap="none" strike="noStrike">
                <a:solidFill>
                  <a:srgbClr val="AEBDC6"/>
                </a:solidFill>
                <a:latin typeface="Calibri"/>
                <a:ea typeface="Calibri"/>
                <a:cs typeface="Calibri"/>
                <a:sym typeface="Calibri"/>
              </a:rPr>
              <a:t>Capture the &gt;2× location premium before it fully prices 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370832" y="1783080"/>
            <a:ext cx="3502152" cy="4069080"/>
          </a:xfrm>
          <a:prstGeom prst="roundRect">
            <a:avLst>
              <a:gd fmla="val 2350" name="adj"/>
            </a:avLst>
          </a:prstGeom>
          <a:solidFill>
            <a:srgbClr val="153241"/>
          </a:solidFill>
          <a:ln cap="flat" cmpd="sng" w="12700">
            <a:solidFill>
              <a:srgbClr val="264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4663440" y="2103120"/>
            <a:ext cx="658368" cy="658368"/>
          </a:xfrm>
          <a:prstGeom prst="ellipse">
            <a:avLst/>
          </a:prstGeom>
          <a:solidFill>
            <a:srgbClr val="5E8B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7285" y="2326965"/>
            <a:ext cx="210678" cy="210678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5"/>
          <p:cNvSpPr/>
          <p:nvPr/>
        </p:nvSpPr>
        <p:spPr>
          <a:xfrm>
            <a:off x="6912864" y="2103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75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E4754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4663440" y="2971800"/>
            <a:ext cx="2916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Compact urban yield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4663440" y="3611880"/>
            <a:ext cx="29169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3D0D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Smaller apartments within ~5 km of city centres.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5"/>
          <p:cNvCxnSpPr/>
          <p:nvPr/>
        </p:nvCxnSpPr>
        <p:spPr>
          <a:xfrm>
            <a:off x="4663440" y="4617720"/>
            <a:ext cx="2916936" cy="0"/>
          </a:xfrm>
          <a:prstGeom prst="straightConnector1">
            <a:avLst/>
          </a:prstGeom>
          <a:noFill/>
          <a:ln cap="flat" cmpd="sng" w="12700">
            <a:solidFill>
              <a:srgbClr val="2A45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5"/>
          <p:cNvSpPr/>
          <p:nvPr/>
        </p:nvSpPr>
        <p:spPr>
          <a:xfrm>
            <a:off x="4663440" y="4709160"/>
            <a:ext cx="29169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E8B7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E8B7E"/>
                </a:solidFill>
                <a:latin typeface="Calibri"/>
                <a:ea typeface="Calibri"/>
                <a:cs typeface="Calibri"/>
                <a:sym typeface="Calibri"/>
              </a:rPr>
              <a:t>Why: </a:t>
            </a:r>
            <a:r>
              <a:rPr b="0" i="0" lang="en-US" sz="1250" u="none" cap="none" strike="noStrike">
                <a:solidFill>
                  <a:srgbClr val="AEBDC6"/>
                </a:solidFill>
                <a:latin typeface="Calibri"/>
                <a:ea typeface="Calibri"/>
                <a:cs typeface="Calibri"/>
                <a:sym typeface="Calibri"/>
              </a:rPr>
              <a:t>Highest €/m² and strongest rental demand — built for cash yield.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7964424" y="1783080"/>
            <a:ext cx="3502152" cy="4069080"/>
          </a:xfrm>
          <a:prstGeom prst="roundRect">
            <a:avLst>
              <a:gd fmla="val 2350" name="adj"/>
            </a:avLst>
          </a:prstGeom>
          <a:solidFill>
            <a:srgbClr val="153241"/>
          </a:solidFill>
          <a:ln cap="flat" cmpd="sng" w="12700">
            <a:solidFill>
              <a:srgbClr val="264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8257032" y="2103120"/>
            <a:ext cx="658368" cy="658368"/>
          </a:xfrm>
          <a:prstGeom prst="ellipse">
            <a:avLst/>
          </a:prstGeom>
          <a:solidFill>
            <a:srgbClr val="B98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0877" y="2326965"/>
            <a:ext cx="210678" cy="21067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5"/>
          <p:cNvSpPr/>
          <p:nvPr/>
        </p:nvSpPr>
        <p:spPr>
          <a:xfrm>
            <a:off x="10506456" y="2103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75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E4754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8257032" y="2971800"/>
            <a:ext cx="2916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Energy arbitrage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8257032" y="3611880"/>
            <a:ext cx="29169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3D0D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Buy C–D stock in strong locations, renovate to A/B.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15"/>
          <p:cNvCxnSpPr/>
          <p:nvPr/>
        </p:nvCxnSpPr>
        <p:spPr>
          <a:xfrm>
            <a:off x="8257032" y="4617720"/>
            <a:ext cx="2916936" cy="0"/>
          </a:xfrm>
          <a:prstGeom prst="straightConnector1">
            <a:avLst/>
          </a:prstGeom>
          <a:noFill/>
          <a:ln cap="flat" cmpd="sng" w="12700">
            <a:solidFill>
              <a:srgbClr val="2A45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15"/>
          <p:cNvSpPr/>
          <p:nvPr/>
        </p:nvSpPr>
        <p:spPr>
          <a:xfrm>
            <a:off x="8257032" y="4709160"/>
            <a:ext cx="29169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B98A3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A3E"/>
                </a:solidFill>
                <a:latin typeface="Calibri"/>
                <a:ea typeface="Calibri"/>
                <a:cs typeface="Calibri"/>
                <a:sym typeface="Calibri"/>
              </a:rPr>
              <a:t>Why: </a:t>
            </a:r>
            <a:r>
              <a:rPr b="0" i="0" lang="en-US" sz="1250" u="none" cap="none" strike="noStrike">
                <a:solidFill>
                  <a:srgbClr val="AEBDC6"/>
                </a:solidFill>
                <a:latin typeface="Calibri"/>
                <a:ea typeface="Calibri"/>
                <a:cs typeface="Calibri"/>
                <a:sym typeface="Calibri"/>
              </a:rPr>
              <a:t>Monetise the EPC premium and de-risk tightening regulation.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777240" y="6080760"/>
            <a:ext cx="10652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DC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EBDC6"/>
                </a:solidFill>
                <a:latin typeface="Calibri"/>
                <a:ea typeface="Calibri"/>
                <a:cs typeface="Calibri"/>
                <a:sym typeface="Calibri"/>
              </a:rPr>
              <a:t>Common thread:  buy usable size, in the right location, with a credible energy story.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"/>
          <p:cNvSpPr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RISKS &amp; DILIGENCE NOTES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777240" y="7772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What to validate before you commit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777240" y="1828800"/>
            <a:ext cx="5212080" cy="1783080"/>
          </a:xfrm>
          <a:prstGeom prst="roundRect">
            <a:avLst>
              <a:gd fmla="val 4103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1069848" y="2121408"/>
            <a:ext cx="566928" cy="566928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22860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6"/>
          <p:cNvSpPr/>
          <p:nvPr/>
        </p:nvSpPr>
        <p:spPr>
          <a:xfrm>
            <a:off x="1828800" y="210312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Listing prices ≠ sold prices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1828800" y="269748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The dataset reflects asking prices. Calibrate against realised transaction data before final underwriting.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6217920" y="1828800"/>
            <a:ext cx="5212080" cy="1783080"/>
          </a:xfrm>
          <a:prstGeom prst="roundRect">
            <a:avLst>
              <a:gd fmla="val 4103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6510528" y="2121408"/>
            <a:ext cx="566928" cy="566928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8" name="Google Shape;3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22860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6"/>
          <p:cNvSpPr/>
          <p:nvPr/>
        </p:nvSpPr>
        <p:spPr>
          <a:xfrm>
            <a:off x="7269480" y="210312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Thin prestige sample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7269480" y="269748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The prestige premium rests on ~199 comparable houses — strong signal, but validate area-by-area.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777240" y="3886200"/>
            <a:ext cx="5212080" cy="1783080"/>
          </a:xfrm>
          <a:prstGeom prst="roundRect">
            <a:avLst>
              <a:gd fmla="val 4103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1069848" y="4178808"/>
            <a:ext cx="566928" cy="566928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4343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6"/>
          <p:cNvSpPr/>
          <p:nvPr/>
        </p:nvSpPr>
        <p:spPr>
          <a:xfrm>
            <a:off x="1828800" y="416052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Missing fields in places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1828800" y="475488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Some columns are sparsely populated (e.g. garden area ~78% missing); treat those features with caution.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6217920" y="3886200"/>
            <a:ext cx="5212080" cy="1783080"/>
          </a:xfrm>
          <a:prstGeom prst="roundRect">
            <a:avLst>
              <a:gd fmla="val 4103" name="adj"/>
            </a:avLst>
          </a:prstGeom>
          <a:solidFill>
            <a:srgbClr val="FBF8F3"/>
          </a:solidFill>
          <a:ln cap="flat" cmpd="sng" w="12700">
            <a:solidFill>
              <a:srgbClr val="ECE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6510528" y="4178808"/>
            <a:ext cx="566928" cy="566928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8" name="Google Shape;3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4343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6"/>
          <p:cNvSpPr/>
          <p:nvPr/>
        </p:nvSpPr>
        <p:spPr>
          <a:xfrm>
            <a:off x="7269480" y="416052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6323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323F"/>
                </a:solidFill>
                <a:latin typeface="Cambria"/>
                <a:ea typeface="Cambria"/>
                <a:cs typeface="Cambria"/>
                <a:sym typeface="Cambria"/>
              </a:rPr>
              <a:t>Correlation, not causation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7269480" y="475488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C56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5660"/>
                </a:solidFill>
                <a:latin typeface="Calibri"/>
                <a:ea typeface="Calibri"/>
                <a:cs typeface="Calibri"/>
                <a:sym typeface="Calibri"/>
              </a:rPr>
              <a:t>The model ranks associations with price, not guaranteed returns. Local market dynamics still rule.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23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"/>
          <p:cNvSpPr/>
          <p:nvPr/>
        </p:nvSpPr>
        <p:spPr>
          <a:xfrm>
            <a:off x="777240" y="9144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The opportunity, in one 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777240" y="1417320"/>
            <a:ext cx="10607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Buy usable size, in rising prestigious catchments, with an energy upside.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777240" y="3291840"/>
            <a:ext cx="10652760" cy="2148840"/>
          </a:xfrm>
          <a:prstGeom prst="roundRect">
            <a:avLst>
              <a:gd fmla="val 3404" name="adj"/>
            </a:avLst>
          </a:prstGeom>
          <a:solidFill>
            <a:srgbClr val="153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1097280" y="35204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6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6A4A"/>
                </a:solidFill>
                <a:latin typeface="Calibri"/>
                <a:ea typeface="Calibri"/>
                <a:cs typeface="Calibri"/>
                <a:sym typeface="Calibri"/>
              </a:rPr>
              <a:t>RECOMMENDED 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1097280" y="3977640"/>
            <a:ext cx="457200" cy="457200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1" name="Google Shape;4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728" y="413308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7"/>
          <p:cNvSpPr/>
          <p:nvPr/>
        </p:nvSpPr>
        <p:spPr>
          <a:xfrm>
            <a:off x="1664208" y="3977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 Shortlist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1097280" y="4526280"/>
            <a:ext cx="3337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D0D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Define 2–3 target catchments on the prestige edge.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4617720" y="3977640"/>
            <a:ext cx="457200" cy="457200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5" name="Google Shape;4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3168" y="413308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7"/>
          <p:cNvSpPr/>
          <p:nvPr/>
        </p:nvSpPr>
        <p:spPr>
          <a:xfrm>
            <a:off x="5184648" y="3977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 Validate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4617720" y="4526280"/>
            <a:ext cx="3337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D0D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Benchmark against sold-price data for those areas.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8138160" y="3977640"/>
            <a:ext cx="457200" cy="457200"/>
          </a:xfrm>
          <a:prstGeom prst="ellipse">
            <a:avLst/>
          </a:prstGeom>
          <a:solidFill>
            <a:srgbClr val="C2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9" name="Google Shape;4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608" y="413308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7"/>
          <p:cNvSpPr/>
          <p:nvPr/>
        </p:nvSpPr>
        <p:spPr>
          <a:xfrm>
            <a:off x="8705088" y="3977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3. Model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8138160" y="4526280"/>
            <a:ext cx="3337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D0D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3D0D8"/>
                </a:solidFill>
                <a:latin typeface="Calibri"/>
                <a:ea typeface="Calibri"/>
                <a:cs typeface="Calibri"/>
                <a:sym typeface="Calibri"/>
              </a:rPr>
              <a:t>Build yield &amp; EPC-renovation scenarios per asset.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09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E909B"/>
                </a:solidFill>
                <a:latin typeface="Calibri"/>
                <a:ea typeface="Calibri"/>
                <a:cs typeface="Calibri"/>
                <a:sym typeface="Calibri"/>
              </a:rPr>
              <a:t>Belgian Residential Real Estate  ·  Investment Recommendation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7772400" y="5989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909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E909B"/>
                </a:solidFill>
                <a:latin typeface="Calibri"/>
                <a:ea typeface="Calibri"/>
                <a:cs typeface="Calibri"/>
                <a:sym typeface="Calibri"/>
              </a:rPr>
              <a:t>Built on 12,600+ analysed listings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spc="160">
                <a:solidFill>
                  <a:srgbClr val="C26A4A"/>
                </a:solidFill>
                <a:latin typeface="Calibri"/>
              </a:rPr>
              <a:t>FROM REGIONS TO STREETS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6323F"/>
                </a:solidFill>
                <a:latin typeface="Cambria"/>
              </a:rPr>
              <a:t>Where prices peak — and bottom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6E7884"/>
                </a:solidFill>
                <a:latin typeface="Calibri"/>
              </a:rPr>
              <a:t>The same names the previous slide flagged — now sized by average price.</a:t>
            </a:r>
          </a:p>
        </p:txBody>
      </p:sp>
      <p:pic>
        <p:nvPicPr>
          <p:cNvPr id="5" name="Picture 4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749" y="1783080"/>
            <a:ext cx="688602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806440"/>
            <a:ext cx="11091672" cy="713232"/>
          </a:xfrm>
          <a:prstGeom prst="roundRect">
            <a:avLst>
              <a:gd name="adj" fmla="val 8000"/>
            </a:avLst>
          </a:prstGeom>
          <a:solidFill>
            <a:srgbClr val="163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91440" bIns="91440"/>
          <a:lstStyle/>
          <a:p>
            <a:pPr algn="ctr"/>
            <a:r>
              <a:rPr sz="1100" b="1" spc="120">
                <a:solidFill>
                  <a:srgbClr val="C26A4A"/>
                </a:solidFill>
                <a:latin typeface="Calibri"/>
              </a:rPr>
              <a:t>THE MUNICIPAL SPREAD   </a:t>
            </a:r>
            <a:r>
              <a:rPr sz="1300">
                <a:solidFill>
                  <a:srgbClr val="FFFFFF"/>
                </a:solidFill>
                <a:latin typeface="Calibri"/>
              </a:rPr>
              <a:t>Kraainem leads near €1.4M average, while rural Wallonian villages bottom out below €80k — a gap of almost 18× between the priciest and cheapest municipalities.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spc="160">
                <a:solidFill>
                  <a:srgbClr val="C26A4A"/>
                </a:solidFill>
                <a:latin typeface="Calibri"/>
              </a:rPr>
              <a:t>READING THE REGIONAL CHARACTER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6323F"/>
                </a:solidFill>
                <a:latin typeface="Cambria"/>
              </a:rPr>
              <a:t>Median tells the truer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i="1">
                <a:solidFill>
                  <a:srgbClr val="6E7884"/>
                </a:solidFill>
                <a:latin typeface="Calibri"/>
              </a:rPr>
              <a:t>Stripping out luxury outliers reshuffles the ranking region by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323F"/>
                </a:solidFill>
                <a:latin typeface="Calibri"/>
              </a:rPr>
              <a:t>Brussels — tight band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6E7884"/>
                </a:solidFill>
                <a:latin typeface="Calibri"/>
              </a:rPr>
              <a:t>Even the cheapest communes hold near €200k median.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323F"/>
                </a:solidFill>
                <a:latin typeface="Calibri"/>
              </a:rPr>
              <a:t>Flanders — widest range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6E7884"/>
                </a:solidFill>
                <a:latin typeface="Calibri"/>
              </a:rPr>
              <a:t>From Kraainem (~€1.26M) down to coastal towns (~€130k).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323F"/>
                </a:solidFill>
                <a:latin typeface="Calibri"/>
              </a:rPr>
              <a:t>Wallonia — the entry point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6E7884"/>
                </a:solidFill>
                <a:latin typeface="Calibri"/>
              </a:rPr>
              <a:t>Baileux and Blaimont sit lowest, around €40–€70k median.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26A4A"/>
                </a:solidFill>
                <a:latin typeface="Calibri"/>
              </a:rPr>
              <a:t>Median sits below the average everywhere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E7884"/>
                </a:solidFill>
                <a:latin typeface="Calibri"/>
              </a:rPr>
              <a:t>— the mean is inflated by a thin luxury tail.</a:t>
            </a:r>
          </a:p>
        </p:txBody>
      </p:sp>
      <p:pic>
        <p:nvPicPr>
          <p:cNvPr id="9" name="Picture 8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771" y="868680"/>
            <a:ext cx="5203977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